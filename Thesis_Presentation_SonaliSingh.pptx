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82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30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0"/>
            <a:ext cx="88696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ECB Interest Rate Changes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Customer Behaviour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Portfolio Risk in European Banking?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542032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316" y="38633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&amp; Data Analytics  </a:t>
            </a:r>
            <a:b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Sonali Singh - 25253051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374136"/>
            <a:ext cx="19202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3374136"/>
            <a:ext cx="19202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00600" y="3374136"/>
            <a:ext cx="19202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731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Motivated This Thesis?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667512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" y="868680"/>
            <a:ext cx="8503920" cy="1161288"/>
          </a:xfrm>
          <a:prstGeom prst="rect">
            <a:avLst/>
          </a:prstGeom>
          <a:solidFill>
            <a:schemeClr val="bg1"/>
          </a:solidFill>
          <a:ln w="1270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384048" y="987552"/>
            <a:ext cx="82296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fascinated by what banks actually do every day and the answer is </a:t>
            </a: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products.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 deposits, loans, campaigns that is the engine of banking income.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92608" y="2212848"/>
            <a:ext cx="2743200" cy="26517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292608" y="2267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" y="251417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is Product-Driven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" y="3099394"/>
            <a:ext cx="2560320" cy="16006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bank's primary income comes from selling the right products to the right customers at the right moment. This thesis is about exactly that process.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172968" y="2212848"/>
            <a:ext cx="2743200" cy="26517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3172968" y="2267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46120" y="2461843"/>
            <a:ext cx="2596896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Rates Change Everything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3115769"/>
            <a:ext cx="2560320" cy="15842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ECB cuts rates, customer behaviour shifts dramatically. Understanding that link is critical for any bank's commercial strategy.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80176" y="2225299"/>
            <a:ext cx="2743200" cy="26517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6053328" y="2267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053328" y="2560271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Real Decisions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44768" y="3063191"/>
            <a:ext cx="2560320" cy="16368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actual Portuguese bank data from the 2008–2010 rate cycle gives this work genuine commercial relevance not just academic exercise.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731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667512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7772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Portuguese bank made 41,188 calls (2008–2010) asking customers to open a term deposit.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ECB cut rates from 5% to below 1% during the same period, a natural experiment.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2608" y="1554480"/>
            <a:ext cx="8503920" cy="102412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554480"/>
            <a:ext cx="685800" cy="102412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82880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78992" y="160934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customers cluster into distinct profiles, and how do profiles differ in ECB rate sensitivity?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21284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1: Customer Segmentation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" y="2688336"/>
            <a:ext cx="8503920" cy="102412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" y="2688336"/>
            <a:ext cx="685800" cy="102412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96265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8992" y="27432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ECB rate changes dynamically influence subscription behaviour over time?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34670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Dynamic Rate Modelling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" y="3822192"/>
            <a:ext cx="8503920" cy="102412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3822192"/>
            <a:ext cx="685800" cy="102412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40965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78992" y="387705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portfolio risk be quantified and stress-tested under ECB rate shock scenarios?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44805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3: Value-at-Risk (Future Work)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731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Bank Marketing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667512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192024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841248"/>
            <a:ext cx="192024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41,188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2608" y="1196950"/>
            <a:ext cx="192024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804672"/>
            <a:ext cx="192024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41448" y="841248"/>
            <a:ext cx="192024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41448" y="1196950"/>
            <a:ext cx="192024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90288" y="804672"/>
            <a:ext cx="192024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841248"/>
            <a:ext cx="192024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0288" y="1196950"/>
            <a:ext cx="192024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39128" y="804672"/>
            <a:ext cx="192024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39128" y="841248"/>
            <a:ext cx="192024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39128" y="1196950"/>
            <a:ext cx="192024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Periods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851877"/>
              </p:ext>
            </p:extLst>
          </p:nvPr>
        </p:nvGraphicFramePr>
        <p:xfrm>
          <a:off x="292608" y="1627632"/>
          <a:ext cx="8503920" cy="3389376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represents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euribor3m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(float)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3-month ECB benchmark rate (0.63%–5.04%)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ECB variable — all 3 components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banking_product_adopted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(yes/no)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customer subscribe to a term deposit?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job, education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/ Categorical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demographics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features (RQ1)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of previous campaign contact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predictor — 65% sub rate if 'success'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emp.var.rate, nr.employed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(float)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employment indicators (VIF &gt; 30)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— collinear with euribor3m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(int)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length in seconds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— post-call leakage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731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Core Finding — Euribor Rate vs Subscription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667512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0" y="841248"/>
            <a:ext cx="3063240" cy="4023360"/>
          </a:xfrm>
          <a:prstGeom prst="rect">
            <a:avLst/>
          </a:prstGeom>
          <a:noFill/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70448" y="8961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870448" y="1371600"/>
            <a:ext cx="2834640" cy="100584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61888" y="140817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961888" y="18288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 when Euribor is below 1%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70448" y="2487168"/>
            <a:ext cx="2834640" cy="100584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61888" y="252374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961888" y="29443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 when Euribor is above 4%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70448" y="3602736"/>
            <a:ext cx="2834640" cy="100584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61888" y="36393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~10×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961888" y="40599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in subscription driven purely by rate environment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654E50D-F72F-C124-F974-F84932C58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20" y="837251"/>
            <a:ext cx="5040593" cy="40784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731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1: Dimensionality Reduction &amp; Optimal 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667512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38328" y="34693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PCA: 8 components explain 80% of variance. 2 components used for visualisation (40.7%).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645152" y="347811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Elbow + Silhouette both peak at K=4, confirms 4 clusters is the right choice.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92608" y="3941064"/>
            <a:ext cx="1965960" cy="923544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38328" y="39448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7472" y="4169664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clusters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 methods)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441448" y="3931920"/>
            <a:ext cx="1965960" cy="93268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487168" y="39448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= 0.9992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487168" y="4161466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vs Hierarchical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agreement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590288" y="3931920"/>
            <a:ext cx="1965960" cy="93268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681728" y="39410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= 0.296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636008" y="4132773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well-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clusters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739128" y="3931920"/>
            <a:ext cx="1965960" cy="93268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830568" y="39410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784848" y="4162885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(ANOVA)</a:t>
            </a:r>
            <a:endParaRPr lang="en-US" sz="12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DFC1106-0242-B92E-8A2B-C501CAE49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670" y="1029408"/>
            <a:ext cx="4074845" cy="23955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3DD8AF4-4AB1-6148-B1A0-6FEB345AE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42" y="1029409"/>
            <a:ext cx="3916589" cy="2324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731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1: Customer Segment Profiles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92608" y="667512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444031"/>
              </p:ext>
            </p:extLst>
          </p:nvPr>
        </p:nvGraphicFramePr>
        <p:xfrm>
          <a:off x="421532" y="3193818"/>
          <a:ext cx="8657617" cy="1876530"/>
        </p:xfrm>
        <a:graphic>
          <a:graphicData uri="http://schemas.openxmlformats.org/drawingml/2006/table">
            <a:tbl>
              <a:tblPr/>
              <a:tblGrid>
                <a:gridCol w="210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4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this segment means for the bank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High-Rate Non-Adopters</a:t>
                      </a: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group. Contacted during high-rate periods. Rate cuts will NOT convert them.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Low-Rate Moderate Adopters</a:t>
                      </a: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campaign target. Respond strongly when ECB cuts rates.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 Previously-Contacted</a:t>
                      </a: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Highest-value micro-segment. Prior success predicts repeat uptake.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0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Mid-Rate Low Converters</a:t>
                      </a: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rate environment, moderate response. Secondary opportunity.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65C142B-2208-1CC4-239A-AE2C5CE1B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2" y="841550"/>
            <a:ext cx="8466436" cy="22162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731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Answer: Rate Sensitivity by Segment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667512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0" y="841248"/>
            <a:ext cx="2423160" cy="4069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8961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64808" y="1302224"/>
            <a:ext cx="2240280" cy="3490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= a group of customers from Component1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bars per cluster = sub rate when Euribor was Low / Mid / High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do NOT sum to 100%, each is independent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Previously-Contacted: 65% sub rate in low-rate periods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High-Rate Non-Adopters: near 0% regardless rate cuts won't help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Low-Rate Moderate Adopters activated only when rates fall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536B79-AAE3-BFE0-A78A-A75AFEB6C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9" y="796941"/>
            <a:ext cx="5989320" cy="42737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78307"/>
            <a:ext cx="8595360" cy="483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ECB Rate Cycle vs Subscription Behaviour Over Time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153912" y="957925"/>
            <a:ext cx="2651760" cy="4069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6263640" y="896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Foundation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97110" y="1252729"/>
            <a:ext cx="246888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41,176 rows collapsed to 24 monthly observations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panel: ECB Euribor 3m — falls from 5% to &lt;1%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panel: subscription rate rises as rates fall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relationship visible in the raw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variables non-stationary → first differenced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causality p &gt; 0.6  small sample (n=23) limits power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validated by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AICc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rolling cross-validation</a:t>
            </a:r>
            <a:endParaRPr lang="en-US" sz="13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45352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EC76C835-4198-AE75-C49B-FCD4EAB969B0}"/>
              </a:ext>
            </a:extLst>
          </p:cNvPr>
          <p:cNvSpPr/>
          <p:nvPr/>
        </p:nvSpPr>
        <p:spPr>
          <a:xfrm>
            <a:off x="292608" y="886968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12FC8F-B08E-706C-AF3F-8A182D6D7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57925"/>
            <a:ext cx="5581731" cy="40164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731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IRF — Euribor Shock Response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667512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841248"/>
            <a:ext cx="2651760" cy="4069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896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 Results: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45352" y="1489841"/>
            <a:ext cx="2468880" cy="3160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line = subscription rate response to 1-unit Euribor shock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lines = 95% confidence interval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peaks at month 2 (t+2)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Decays to zero over 6–8 months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quarter lag from ECB policy to customer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5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CIs expected, only 23 monthly observations</a:t>
            </a:r>
            <a:endParaRPr lang="en-US" sz="1500" dirty="0"/>
          </a:p>
          <a:p>
            <a:pPr marL="342900" indent="-342900">
              <a:buFont typeface="+mj-lt"/>
              <a:buAutoNum type="arabicPeriod"/>
            </a:pP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45352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6B2DAE-61DF-C24D-2884-42FE22D06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9" y="896112"/>
            <a:ext cx="5843016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78211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VAR Validation — Rolling Cross-Validation</a:t>
            </a:r>
            <a:endParaRPr lang="en-US" sz="3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929705"/>
            <a:ext cx="64008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21424" y="1069848"/>
            <a:ext cx="2011680" cy="36140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85432" y="1069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Selection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85432" y="149747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VAR(1) wins at 1-step and 2-step horizons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85432" y="208483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VAR(3) competitive at 3-step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85432" y="26334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AICc also selects VAR(1)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85432" y="327355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VAR(1) is most conservative choice for n=23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85432" y="38221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RMSE = better forecast</a:t>
            </a:r>
            <a:endParaRPr lang="en-US" sz="15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F0BC8DAB-9AE6-F9EF-6801-BE0D3573E4AA}"/>
              </a:ext>
            </a:extLst>
          </p:cNvPr>
          <p:cNvSpPr/>
          <p:nvPr/>
        </p:nvSpPr>
        <p:spPr>
          <a:xfrm>
            <a:off x="292608" y="886968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731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</a:t>
            </a:r>
            <a:r>
              <a:rPr lang="en-US" sz="30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 Importance &amp; SHAP</a:t>
            </a:r>
            <a:endParaRPr lang="en-US" sz="3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41248"/>
            <a:ext cx="4389120" cy="39535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841248"/>
            <a:ext cx="4023360" cy="37798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 rot="10800000" flipV="1">
            <a:off x="292608" y="4794828"/>
            <a:ext cx="8503920" cy="170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shows nr.employed dominates (0.81)  a proxy for the macro environment. SHAP confirms direction: high nr.employed suppresses subscriptions.</a:t>
            </a:r>
            <a:endParaRPr lang="en-US" sz="13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1BA0490D-F725-3DE6-2F7D-5395AEE72064}"/>
              </a:ext>
            </a:extLst>
          </p:cNvPr>
          <p:cNvSpPr/>
          <p:nvPr/>
        </p:nvSpPr>
        <p:spPr>
          <a:xfrm>
            <a:off x="292608" y="704088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731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667512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8503920" cy="1965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292608" y="804672"/>
            <a:ext cx="822960" cy="196596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4447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25296" y="859536"/>
            <a:ext cx="7452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130759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customer segments , ARI = 0.9992 between K-Means and Hierarchical Clustering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61872" y="176479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Previously-Contacted: 63.8% subscription  most valuable segment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61872" y="222199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High-Rate Non-Adopters: 65% of customers, 4.9% sub rate ,rate cuts will not activate them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2608" y="2907792"/>
            <a:ext cx="8503920" cy="1965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292608" y="2907792"/>
            <a:ext cx="822960" cy="1965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35478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25296" y="2962656"/>
            <a:ext cx="7452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Rate Modelling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1872" y="341071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rate environment causes ~10× variation in subscription behaviour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86791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VAR(1) preferred, selected by both AICc and rolling cross-validation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432511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IRF: rate shock effect peaks at month 2 (t+2), decays over 6–8 months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2608" y="4828032"/>
            <a:ext cx="850392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483717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and RQ2 are directly linked: segment membership determines how strongly ECB rate changes affect individual customers.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731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667512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6092"/>
            <a:ext cx="8503920" cy="202996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11480" y="85953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Contributions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13350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rate environment causes ~10× variation in subscription behaviour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</a:t>
            </a: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</a:t>
            </a: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</a:t>
            </a: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</a:p>
        </p:txBody>
      </p:sp>
      <p:sp>
        <p:nvSpPr>
          <p:cNvPr id="9" name="Text 7"/>
          <p:cNvSpPr/>
          <p:nvPr/>
        </p:nvSpPr>
        <p:spPr>
          <a:xfrm>
            <a:off x="411480" y="20482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cluster-based VAR model works better for the Low Rate Moderate cluster</a:t>
            </a:r>
          </a:p>
        </p:txBody>
      </p:sp>
      <p:sp>
        <p:nvSpPr>
          <p:cNvPr id="10" name="Text 8"/>
          <p:cNvSpPr/>
          <p:nvPr/>
        </p:nvSpPr>
        <p:spPr>
          <a:xfrm>
            <a:off x="411480" y="24048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framework developed linking clustering to risk assessment</a:t>
            </a:r>
          </a:p>
        </p:txBody>
      </p:sp>
      <p:sp>
        <p:nvSpPr>
          <p:cNvPr id="11" name="Shape 9"/>
          <p:cNvSpPr/>
          <p:nvPr/>
        </p:nvSpPr>
        <p:spPr>
          <a:xfrm>
            <a:off x="292608" y="2907792"/>
            <a:ext cx="8503920" cy="202996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11480" y="296265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" y="343814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24 months affects results of Granger causality test</a:t>
            </a:r>
          </a:p>
        </p:txBody>
      </p:sp>
      <p:sp>
        <p:nvSpPr>
          <p:cNvPr id="14" name="Text 12"/>
          <p:cNvSpPr/>
          <p:nvPr/>
        </p:nvSpPr>
        <p:spPr>
          <a:xfrm>
            <a:off x="411480" y="37947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Autocorrelation</a:t>
            </a: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subscription equation resulting from low sample size</a:t>
            </a:r>
          </a:p>
        </p:txBody>
      </p:sp>
      <p:sp>
        <p:nvSpPr>
          <p:cNvPr id="15" name="Text 13"/>
          <p:cNvSpPr/>
          <p:nvPr/>
        </p:nvSpPr>
        <p:spPr>
          <a:xfrm>
            <a:off x="411480" y="415137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significance of Granger test result due to low sample size</a:t>
            </a:r>
          </a:p>
        </p:txBody>
      </p:sp>
      <p:sp>
        <p:nvSpPr>
          <p:cNvPr id="16" name="Text 14"/>
          <p:cNvSpPr/>
          <p:nvPr/>
        </p:nvSpPr>
        <p:spPr>
          <a:xfrm>
            <a:off x="411480" y="45079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framework development completed; implementation is the next step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5651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3: Value-at-Risk — Framework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0896" y="867545"/>
            <a:ext cx="859536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024128"/>
            <a:ext cx="4160520" cy="3931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0624" y="106569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no distributional assumptions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assumes normal distribution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2468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10,000 simulated scenarios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" y="3017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(Expected Shortfall) : tail risk measure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" y="3566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GARCH(1,1) : time-varying volatility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08576" y="1024128"/>
            <a:ext cx="4160520" cy="3931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22876" y="1034439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Stress Testing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0016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Kupiec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verify breach rate vs confidence level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0016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: anomalous months in rate behaviour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0016" y="2468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each segment: +50bp, +100bp, +200bp shocks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0016" y="3017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links RQ 1 segments to portfolio risk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0016" y="3566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RQ3: which segments are most exposed to rate hikes?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0"/>
            <a:ext cx="88696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26060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0" y="3474720"/>
            <a:ext cx="21945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1280</Words>
  <Application>Microsoft Office PowerPoint</Application>
  <PresentationFormat>On-screen Show (16:9)</PresentationFormat>
  <Paragraphs>194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Sonali Singh</cp:lastModifiedBy>
  <cp:revision>31</cp:revision>
  <dcterms:created xsi:type="dcterms:W3CDTF">2026-06-01T07:05:43Z</dcterms:created>
  <dcterms:modified xsi:type="dcterms:W3CDTF">2026-06-02T10:47:12Z</dcterms:modified>
</cp:coreProperties>
</file>